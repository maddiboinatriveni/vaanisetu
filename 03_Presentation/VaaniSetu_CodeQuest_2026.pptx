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243B7A"/>
          </a:solidFill>
          <a:ln w="12700">
            <a:solidFill>
              <a:srgbClr val="243B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640080"/>
            <a:ext cx="2926080" cy="2926080"/>
          </a:xfrm>
          <a:prstGeom prst="ellipse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657600"/>
            <a:ext cx="2286000" cy="2286000"/>
          </a:xfrm>
          <a:prstGeom prst="ellipse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164592" cy="164592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B347"/>
                </a:solidFill>
              </a:rPr>
              <a:t>BHARAT ACADEMIX CODEQUEST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VaaniSetu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Multilingual Legal Aid Interpreter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Rural India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1463040" cy="4572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154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Innovate. Build. Impact.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6576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Social Impact &amp; AI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08960" y="3657600"/>
            <a:ext cx="2743200" cy="347472"/>
          </a:xfrm>
          <a:prstGeom prst="roundRect">
            <a:avLst>
              <a:gd name="adj" fmla="val 21053"/>
            </a:avLst>
          </a:prstGeom>
          <a:solidFill>
            <a:srgbClr val="243B7A"/>
          </a:solidFill>
          <a:ln w="12700">
            <a:solidFill>
              <a:srgbClr val="243B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3657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Maddiboina Triveni — Individual</a:t>
            </a:r>
            <a:endParaRPr lang="en-US" sz="11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45720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REALITY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SEES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645920"/>
            <a:ext cx="822960" cy="4572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9202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256032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"Growing up in Andhra Pradesh, I have seen how language becomes a wall between people and their rights. In my community, official documents in English or formal Hindi are treated as something only educated people can understand — everyone else just signs and hopes."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Maddiboina Triveni, B.Tech CSE, Andhra Pradesh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114800" y="411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Problem Matters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114800" y="1097280"/>
            <a:ext cx="45720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251960" y="1188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8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669280" y="11887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 lives in rural areas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69280" y="16276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from legal aid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114800" y="2331720"/>
            <a:ext cx="45720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251960" y="2423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8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40Cr+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5669280" y="24231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Indians interact with legal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annually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669280" y="28620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zero language support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114800" y="3566160"/>
            <a:ext cx="45720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251960" y="3657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8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1:50K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5669280" y="36576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of legal aid lawyers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rural citizens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669280" y="40965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grossly inadequate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Slide 2 of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188720"/>
            <a:ext cx="8321040" cy="1051560"/>
          </a:xfrm>
          <a:prstGeom prst="roundRect">
            <a:avLst>
              <a:gd name="adj" fmla="val 8696"/>
            </a:avLst>
          </a:prstGeom>
          <a:solidFill>
            <a:srgbClr val="F4F6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28016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Untranslatable Legal Documents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25880" y="1645920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FIRs, court summons, bail orders, and property deeds are written in formal English or Hindi. Rural citizens — farmers, laborers, tribal communities — cannot read them.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1480" y="2423160"/>
            <a:ext cx="8321040" cy="1051560"/>
          </a:xfrm>
          <a:prstGeom prst="roundRect">
            <a:avLst>
              <a:gd name="adj" fmla="val 8696"/>
            </a:avLst>
          </a:prstGeom>
          <a:solidFill>
            <a:srgbClr val="F4F6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265176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71576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251460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Wrongful Acceptance of Charges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25880" y="2880360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unknowingly sign false confessions, miss hearings, or forfeit land rights. They accept punishments they never deserved — because they didn't understand the document.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11480" y="3657600"/>
            <a:ext cx="8321040" cy="1051560"/>
          </a:xfrm>
          <a:prstGeom prst="roundRect">
            <a:avLst>
              <a:gd name="adj" fmla="val 8696"/>
            </a:avLst>
          </a:prstGeom>
          <a:solidFill>
            <a:srgbClr val="F4F6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8640" y="388620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50208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374904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Scale, Zero Solution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325880" y="4114800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800+ dialects exist in India. Legal documents exist in exactly 1 language accessible to less than 15% of rural citizens. No app has ever solved this for legal contexts specifically.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0" y="4892040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Slide 3 of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280160" cy="4572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VaaniSetu — "Voice Bridge"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multilingual legal assistant that translates court documents, FIRs, bail orders, and legal notices into the user's native dialect — delivered in plain language via voice and text — so every Indian understands their legal rights.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246888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1A2F5E"/>
          </a:solidFill>
          <a:ln w="12700">
            <a:solidFill>
              <a:srgbClr val="243B7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6148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4128" y="25786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or Photograph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24128" y="29260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photographs or speaks their document. OCR + ASR extracts the legal text instantly.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246888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1A2F5E"/>
          </a:solidFill>
          <a:ln w="12700">
            <a:solidFill>
              <a:srgbClr val="243B7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76148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13248" y="25786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Languages, 100+ Dialects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413248" y="29260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 into native dialect — Telugu, Bhojpuri, Gondi, Tulu — not just Hindi or English.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65760" y="374904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1A2F5E"/>
          </a:solidFill>
          <a:ln w="12700">
            <a:solidFill>
              <a:srgbClr val="243B7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41648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4128" y="385876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Language Explanation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024128" y="42062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translation — legal context interpreted. "This means police can arrest you without a warrant."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754880" y="374904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1A2F5E"/>
          </a:solidFill>
          <a:ln w="12700">
            <a:solidFill>
              <a:srgbClr val="243B7A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4041648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13248" y="385876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+ SMS Fallback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413248" y="42062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₹5,000 phones. Offline mode for villages. SMS for 2G or feature phone users.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0" y="4892040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43B7A"/>
                </a:solidFill>
              </a:rPr>
              <a:t>Slide 4 of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34440"/>
            <a:ext cx="1554480" cy="33832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417320"/>
            <a:ext cx="502920" cy="50292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031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47472" y="2743200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3127248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photographs legal document or speaks into phone in their dialect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837944" y="2331720"/>
            <a:ext cx="201168" cy="0"/>
          </a:xfrm>
          <a:prstGeom prst="line">
            <a:avLst/>
          </a:prstGeom>
          <a:noFill/>
          <a:ln w="25400">
            <a:solidFill>
              <a:srgbClr val="FF8C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38528" y="2295144"/>
            <a:ext cx="91440" cy="91440"/>
          </a:xfrm>
          <a:prstGeom prst="roundRect">
            <a:avLst>
              <a:gd name="adj" fmla="val 20000"/>
            </a:avLst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938528" y="1234440"/>
            <a:ext cx="1554480" cy="33832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468880" y="1417320"/>
            <a:ext cx="502920" cy="50292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6888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168" y="210312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011680" y="2743200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2029968" y="3127248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(Google Vision) or Whisper ASR extracts raw legal text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502152" y="2331720"/>
            <a:ext cx="201168" cy="0"/>
          </a:xfrm>
          <a:prstGeom prst="line">
            <a:avLst/>
          </a:prstGeom>
          <a:noFill/>
          <a:ln w="25400">
            <a:solidFill>
              <a:srgbClr val="FF8C0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602736" y="2295144"/>
            <a:ext cx="91440" cy="91440"/>
          </a:xfrm>
          <a:prstGeom prst="roundRect">
            <a:avLst>
              <a:gd name="adj" fmla="val 20000"/>
            </a:avLst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602736" y="1234440"/>
            <a:ext cx="1554480" cy="33832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7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133088" y="1417320"/>
            <a:ext cx="502920" cy="50292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133088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1376" y="2103120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675888" y="2743200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3694176" y="3127248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IndicTrans2 + fine-tuned LLM converts to plain-language native dialect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5166360" y="2331720"/>
            <a:ext cx="201168" cy="0"/>
          </a:xfrm>
          <a:prstGeom prst="line">
            <a:avLst/>
          </a:prstGeom>
          <a:noFill/>
          <a:ln w="25400">
            <a:solidFill>
              <a:srgbClr val="FF8C0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266944" y="2295144"/>
            <a:ext cx="91440" cy="91440"/>
          </a:xfrm>
          <a:prstGeom prst="roundRect">
            <a:avLst>
              <a:gd name="adj" fmla="val 20000"/>
            </a:avLst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266944" y="1234440"/>
            <a:ext cx="1554480" cy="33832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7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5797296" y="1417320"/>
            <a:ext cx="502920" cy="50292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797296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584" y="2103120"/>
            <a:ext cx="457200" cy="4572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340096" y="2743200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5358384" y="3127248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text output: what it means, what to do, legal rights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6830568" y="2331720"/>
            <a:ext cx="201168" cy="0"/>
          </a:xfrm>
          <a:prstGeom prst="line">
            <a:avLst/>
          </a:prstGeom>
          <a:noFill/>
          <a:ln w="25400">
            <a:solidFill>
              <a:srgbClr val="FF8C00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6931152" y="2295144"/>
            <a:ext cx="91440" cy="91440"/>
          </a:xfrm>
          <a:prstGeom prst="roundRect">
            <a:avLst>
              <a:gd name="adj" fmla="val 20000"/>
            </a:avLst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6931152" y="1234440"/>
            <a:ext cx="1554480" cy="33832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7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7461504" y="1417320"/>
            <a:ext cx="502920" cy="50292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7461504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9792" y="2103120"/>
            <a:ext cx="457200" cy="45720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7004304" y="2743200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300" dirty="0"/>
          </a:p>
        </p:txBody>
      </p:sp>
      <p:sp>
        <p:nvSpPr>
          <p:cNvPr id="42" name="Text 35"/>
          <p:cNvSpPr/>
          <p:nvPr/>
        </p:nvSpPr>
        <p:spPr>
          <a:xfrm>
            <a:off x="7022592" y="3127248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to nearest legal aid center, shares summary PDF</a:t>
            </a:r>
            <a:endParaRPr lang="en-US" sz="1000" dirty="0"/>
          </a:p>
        </p:txBody>
      </p:sp>
      <p:sp>
        <p:nvSpPr>
          <p:cNvPr id="43" name="Text 36"/>
          <p:cNvSpPr/>
          <p:nvPr/>
        </p:nvSpPr>
        <p:spPr>
          <a:xfrm>
            <a:off x="0" y="4892040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Slide 5 of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E8F4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(iOS + Android)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9476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UI for low-literacy users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2951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Offline-capable PWA fallback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F3E8FF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NLP CORE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92040" y="16002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IndicTrans2 by AI4Bharat (22 Indian langs)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92040" y="19476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Whisper ASR (voice input)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92040" y="22951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LLM on Indian legal corpus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E8FDF5"/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3474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8221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Vision OCR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1696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+ Realtime Sync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301752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+ ACCESS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474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 (on-device inference)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92040" y="38221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SMS API (2G / feature phones)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92040" y="41696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PDF generation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0" y="4892040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Slide 6 of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IMPACT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280160" cy="4572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1A2F5E"/>
          </a:solidFill>
          <a:ln w="12700">
            <a:solidFill>
              <a:srgbClr val="243B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7043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8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40Cr+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77393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Users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097280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1A2F5E"/>
          </a:solidFill>
          <a:ln w="12700">
            <a:solidFill>
              <a:srgbClr val="243B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17043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8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177393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Languages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097280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1A2F5E"/>
          </a:solidFill>
          <a:ln w="12700">
            <a:solidFill>
              <a:srgbClr val="243B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17043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8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0" y="177393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Dialects Covered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1097280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1A2F5E"/>
          </a:solidFill>
          <a:ln w="12700">
            <a:solidFill>
              <a:srgbClr val="243B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117043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8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675120" y="177393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User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423160"/>
            <a:ext cx="2697480" cy="2331720"/>
          </a:xfrm>
          <a:prstGeom prst="roundRect">
            <a:avLst>
              <a:gd name="adj" fmla="val 4706"/>
            </a:avLst>
          </a:prstGeom>
          <a:solidFill>
            <a:srgbClr val="1A2F5E"/>
          </a:solidFill>
          <a:ln w="12700">
            <a:solidFill>
              <a:srgbClr val="243B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46120" y="2423160"/>
            <a:ext cx="2697480" cy="2331720"/>
          </a:xfrm>
          <a:prstGeom prst="roundRect">
            <a:avLst>
              <a:gd name="adj" fmla="val 4706"/>
            </a:avLst>
          </a:prstGeom>
          <a:solidFill>
            <a:srgbClr val="1A2F5E"/>
          </a:solidFill>
          <a:ln w="12700">
            <a:solidFill>
              <a:srgbClr val="243B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2423160"/>
            <a:ext cx="2697480" cy="2331720"/>
          </a:xfrm>
          <a:prstGeom prst="roundRect">
            <a:avLst>
              <a:gd name="adj" fmla="val 4706"/>
            </a:avLst>
          </a:prstGeom>
          <a:solidFill>
            <a:srgbClr val="1A2F5E"/>
          </a:solidFill>
          <a:ln w="12700">
            <a:solidFill>
              <a:srgbClr val="243B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4892040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43B7A"/>
                </a:solidFill>
              </a:rPr>
              <a:t>Slide 7 of 10</a:t>
            </a:r>
            <a:endParaRPr lang="en-US" sz="8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578608"/>
            <a:ext cx="502920" cy="5029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75488" y="31821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Wrongful Defaults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75488" y="36576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who miss hearings due to confusion contribute to 4.5 crore pending cases. VaaniSetu reduces this directly.</a:t>
            </a:r>
            <a:endParaRPr lang="en-US" sz="10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2578608"/>
            <a:ext cx="502920" cy="5029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236208" y="31821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with eCourts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236208" y="36576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eCourts API is public. VaaniSetu can plug into the existing national court infrastructure — no new bureaucracy needed.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ROADMAP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143000"/>
            <a:ext cx="1508760" cy="457200"/>
          </a:xfrm>
          <a:prstGeom prst="roundRect">
            <a:avLst>
              <a:gd name="adj" fmla="val 20000"/>
            </a:avLst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1430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37360" y="1371600"/>
            <a:ext cx="228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755648"/>
            <a:ext cx="1508760" cy="301752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1752" y="18745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AI Engine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33172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IndicTrans2 + LLM pipeline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2990088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500+ public-domain court docs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" y="3648456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OCR-to-translation pipeline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965960" y="1143000"/>
            <a:ext cx="1508760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960" y="11430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0" y="1371600"/>
            <a:ext cx="228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65960" y="1755648"/>
            <a:ext cx="1508760" cy="301752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39112" y="18745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&amp; UI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57400" y="233172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Whisper-based voice input module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057400" y="2990088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app with dialect selector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057400" y="3648456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voice + text output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703320" y="1143000"/>
            <a:ext cx="1508760" cy="45720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03320" y="11430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12080" y="1371600"/>
            <a:ext cx="228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03320" y="1755648"/>
            <a:ext cx="1508760" cy="301752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776472" y="18745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&amp; SMS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794760" y="233172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model compression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794760" y="2990088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SMS API for 2G users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794760" y="3648456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 pipeline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40680" y="1143000"/>
            <a:ext cx="1508760" cy="45720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0680" y="11430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949440" y="1371600"/>
            <a:ext cx="228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40680" y="1755648"/>
            <a:ext cx="1508760" cy="301752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513832" y="18745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Docs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32120" y="233172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5 real document types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532120" y="2990088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production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532120" y="3648456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documentation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78040" y="1143000"/>
            <a:ext cx="1508760" cy="45720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78040" y="11430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Post-Hack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178040" y="1755648"/>
            <a:ext cx="1508760" cy="301752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251192" y="18745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269480" y="233172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DLSA partnership outreach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269480" y="2990088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eCourts API integration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269480" y="3648456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legal corpus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0" y="4892040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Slide 8 of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MOCKUP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32688"/>
            <a:ext cx="9144000" cy="54864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E8F4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7276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LAYER — React Native App (Voice + Photo Input)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48840" y="2075688"/>
            <a:ext cx="0" cy="2286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304288"/>
            <a:ext cx="3840480" cy="548640"/>
          </a:xfrm>
          <a:prstGeom prst="roundRect">
            <a:avLst>
              <a:gd name="adj" fmla="val 13333"/>
            </a:avLst>
          </a:prstGeom>
          <a:solidFill>
            <a:srgbClr val="F3E8FF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0428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CORE — IndicTrans2 + LLM + Whisper ASR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48840" y="2852928"/>
            <a:ext cx="0" cy="2286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3081528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E8FDF5"/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08152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FastAPI + Firebase + OCR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148840" y="3584448"/>
            <a:ext cx="0" cy="2286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813048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8130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/ SMS FALLBACK — TFLite + Twilio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63440" y="1143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Mockup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303520" y="1508760"/>
            <a:ext cx="2560320" cy="3200400"/>
          </a:xfrm>
          <a:prstGeom prst="roundRect">
            <a:avLst>
              <a:gd name="adj" fmla="val 10714"/>
            </a:avLst>
          </a:prstGeom>
          <a:solidFill>
            <a:srgbClr val="0D1B3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40680" y="1691640"/>
            <a:ext cx="228600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40680" y="1691640"/>
            <a:ext cx="2286000" cy="502920"/>
          </a:xfrm>
          <a:prstGeom prst="roundRect">
            <a:avLst>
              <a:gd name="adj" fmla="val 27273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40680" y="1691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VaaniSetu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77840" y="2304288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EEF2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23042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Telugu ▾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577840" y="2724912"/>
            <a:ext cx="2011680" cy="411480"/>
          </a:xfrm>
          <a:prstGeom prst="roundRect">
            <a:avLst>
              <a:gd name="adj" fmla="val 26667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0" y="27249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Photograph Document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77840" y="3246120"/>
            <a:ext cx="2011680" cy="411480"/>
          </a:xfrm>
          <a:prstGeom prst="roundRect">
            <a:avLst>
              <a:gd name="adj" fmla="val 26667"/>
            </a:avLst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0" y="3246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 Speak Your Document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32120" y="3749040"/>
            <a:ext cx="2148840" cy="640080"/>
          </a:xfrm>
          <a:prstGeom prst="roundRect">
            <a:avLst>
              <a:gd name="adj" fmla="val 14286"/>
            </a:avLst>
          </a:prstGeom>
          <a:solidFill>
            <a:srgbClr val="E8FDF5"/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37490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"ఈ నోటీసు మీరు 7 రోజులలో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కోర్టులో హాజరు కావాలని చెప్తుంది"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0" y="4892040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Slide 9 of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243B7A"/>
          </a:solidFill>
          <a:ln w="12700">
            <a:solidFill>
              <a:srgbClr val="243B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Maddiboina Triveni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 Academix CodeQuest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1280160" cy="4572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65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34640" y="1965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Maddiboina Triveni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34640" y="2286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trivenimaddiboina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606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34640" y="2606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— Computer Science &amp; Engineering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926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29260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(4th Year)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246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34640" y="32461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566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34640" y="3566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Impact &amp; AI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886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834640" y="3886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Tech / Rural India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251960"/>
            <a:ext cx="8046720" cy="685800"/>
          </a:xfrm>
          <a:prstGeom prst="roundRect">
            <a:avLst>
              <a:gd name="adj" fmla="val 13333"/>
            </a:avLst>
          </a:prstGeom>
          <a:solidFill>
            <a:srgbClr val="1A2F5E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261104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"Justice delayed is justice denied. Justice untranslated is justice destroyed."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VaaniSetu bridges the gap — one voice, one village, one life at a time.</a:t>
            </a:r>
            <a:endParaRPr lang="en-US" sz="11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96012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VaaniSetu — AI Legal Aid Interpreter</dc:title>
  <dc:subject>PptxGenJS Presentation</dc:subject>
  <dc:creator>Maddiboina Triveni</dc:creator>
  <cp:lastModifiedBy>Maddiboina Triveni</cp:lastModifiedBy>
  <cp:revision>1</cp:revision>
  <dcterms:created xsi:type="dcterms:W3CDTF">2026-06-18T05:42:44Z</dcterms:created>
  <dcterms:modified xsi:type="dcterms:W3CDTF">2026-06-18T05:42:44Z</dcterms:modified>
</cp:coreProperties>
</file>